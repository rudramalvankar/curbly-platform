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alibri"/>
              </a:defRPr>
            </a:pPr>
            <a:r>
              <a:t>ACADEMIC SOFTWARE &amp; ENTREPRENEURSHIP PROJECT (ENTP)</a:t>
            </a:r>
          </a:p>
          <a:p>
            <a:pPr>
              <a:spcBef>
                <a:spcPts val="800"/>
              </a:spcBef>
              <a:defRPr sz="5400" b="1">
                <a:solidFill>
                  <a:srgbClr val="FFFFFF"/>
                </a:solidFill>
                <a:latin typeface="Calibri"/>
              </a:defRPr>
            </a:pPr>
            <a:r>
              <a:t>CURBLY</a:t>
            </a:r>
          </a:p>
          <a:p>
            <a:pPr>
              <a:spcBef>
                <a:spcPts val="400"/>
              </a:spcBef>
              <a:defRPr sz="2200" b="1">
                <a:solidFill>
                  <a:srgbClr val="94A3B8"/>
                </a:solidFill>
                <a:latin typeface="Calibri"/>
              </a:defRPr>
            </a:pPr>
            <a:r>
              <a:t>Smart Urban Parking &amp; Space Sharing Platform</a:t>
            </a:r>
          </a:p>
          <a:p>
            <a:pPr>
              <a:spcBef>
                <a:spcPts val="1000"/>
              </a:spcBef>
              <a:defRPr sz="1800" i="1">
                <a:solidFill>
                  <a:srgbClr val="38BDF8"/>
                </a:solidFill>
                <a:latin typeface="Calibri"/>
              </a:defRPr>
            </a:pPr>
            <a:r>
              <a:t>"Find parking before you arrive."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PROJECT TYPE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ENTP / Full-Stack Capstone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Web &amp; Geolocation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11480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4297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CORE STACK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React.js + Node.js + Express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Neon Serverless 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AUTH &amp; PAYMENT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JWT Security &amp; Role Control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Razorpay Payment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11480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4297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TEAM &amp; GUIDE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Project Team: [Team Members]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Faculty Guide: [Guide Name]</a:t>
            </a:r>
            <a:br/>
            <a:r>
              <a:t>Dept of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02 |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The Parking Problem in Modern Cities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Urban congestion is exacerbated by inefficient spot discovery and unmonetized private capacity.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21945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TIME WASTAGE</a:t>
            </a:r>
          </a:p>
          <a:p>
            <a:pPr>
              <a:spcBef>
                <a:spcPts val="6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Search Cruising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Drivers spend 15-25 minutes circling commercial and residential zones seeking curb or lot spaces, creating massive personal delays.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5448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39312" y="1737360"/>
            <a:ext cx="21945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9202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HIGH UNCERTAINTY</a:t>
            </a:r>
          </a:p>
          <a:p>
            <a:pPr>
              <a:spcBef>
                <a:spcPts val="6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Blind Navigation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Arrival at destinations without advance certainty leads to illegal curbside parking, blocked driveways, and steep fines.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64224" y="1737360"/>
            <a:ext cx="21945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9202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UNUSED PRIVATE CAPACITY</a:t>
            </a:r>
          </a:p>
          <a:p>
            <a:pPr>
              <a:spcBef>
                <a:spcPts val="6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Dead Capital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Thousands of private driveways, society slots, and retail slots stay completely vacant during standard working hours.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55448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89136" y="1737360"/>
            <a:ext cx="21945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19202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TRAFFIC CONGESTION</a:t>
            </a:r>
          </a:p>
          <a:p>
            <a:pPr>
              <a:spcBef>
                <a:spcPts val="6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Unnecessary Circulation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Cruising traffic accounts for up to 30% of congestion in peak urban downtown corridors, elevating carbon emissions.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725912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Calibri"/>
              </a:defRPr>
            </a:pPr>
            <a:r>
              <a:t>THE FLAWED LEGACY PARKING CYCLE: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Driver Departs  ──&gt;  Blind Arrival at Destination  ──&gt;  Frustrating Cruising &amp; Congestion  ──&gt;  Unauthorized Parking / High Fines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03 |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Introducing Curbly: Smart Space Sharing Platform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A bidirectional marketplace connecting urban drivers directly with private &amp; commercial parking space owners.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FOR COMMUTERS &amp; DRIVERS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On-Demand Parking Discovery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Location-Based Discovery: Map search for slots within walking distance of destination.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Real-Time Availability: View updated slots, rates, and amenities (CCTV, Covered, EV).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Instant Advance Reservation: Lock slots prior to driving to eliminate uncertainty.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Seamless Digital Payments: Integrated Razorpay checkout with transparent billing.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Navigation &amp; QR Check-in: Turn-by-turn routing and verification upon arrival.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56616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alibri"/>
              </a:defRPr>
            </a:pPr>
            <a:r>
              <a:t>THE CORE PLATFORM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CURBLY CLOUD ENGINE</a:t>
            </a:r>
          </a:p>
          <a:p>
            <a:pPr>
              <a:spcBef>
                <a:spcPts val="1000"/>
              </a:spcBef>
              <a:defRPr sz="1300" b="1">
                <a:solidFill>
                  <a:srgbClr val="F1F5F9"/>
                </a:solidFill>
                <a:latin typeface="Calibri"/>
              </a:defRPr>
            </a:pPr>
            <a:r>
              <a:t>React.js Client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Intuitive responsive UI for search, booking, and host controls</a:t>
            </a:r>
          </a:p>
          <a:p>
            <a:pPr>
              <a:spcBef>
                <a:spcPts val="1000"/>
              </a:spcBef>
              <a:defRPr sz="1300" b="1">
                <a:solidFill>
                  <a:srgbClr val="F1F5F9"/>
                </a:solidFill>
                <a:latin typeface="Calibri"/>
              </a:defRPr>
            </a:pPr>
            <a:r>
              <a:t>Node.js REST Services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Secure API handling bookings, authentication, and slots</a:t>
            </a:r>
          </a:p>
          <a:p>
            <a:pPr>
              <a:spcBef>
                <a:spcPts val="1000"/>
              </a:spcBef>
              <a:defRPr sz="1300" b="1">
                <a:solidFill>
                  <a:srgbClr val="F1F5F9"/>
                </a:solidFill>
                <a:latin typeface="Calibri"/>
              </a:defRPr>
            </a:pPr>
            <a:r>
              <a:t>Neon PostgreSQL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Serverless relational data store with geospatial indexing</a:t>
            </a:r>
          </a:p>
          <a:p>
            <a:pPr>
              <a:spcBef>
                <a:spcPts val="1000"/>
              </a:spcBef>
              <a:defRPr sz="1300" b="1">
                <a:solidFill>
                  <a:srgbClr val="F1F5F9"/>
                </a:solidFill>
                <a:latin typeface="Calibri"/>
              </a:defRPr>
            </a:pPr>
            <a:r>
              <a:t>Razorpay Webhooks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Escrow-style automated payment processing &amp; splits</a:t>
            </a:r>
          </a:p>
          <a:p>
            <a:pPr>
              <a:spcBef>
                <a:spcPts val="1000"/>
              </a:spcBef>
              <a:defRPr sz="1300" b="1">
                <a:solidFill>
                  <a:srgbClr val="F1F5F9"/>
                </a:solidFill>
                <a:latin typeface="Calibri"/>
              </a:defRPr>
            </a:pPr>
            <a:r>
              <a:t>Smart Verification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Secure QR/OTP verification for effortless check-in &amp; check-out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73736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Calibri"/>
              </a:defRPr>
            </a:pPr>
            <a:r>
              <a:t>FOR PROPERTY OWNERS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Monetize Idle Parking Capacity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Effortless Listing: Register driveways, society spaces, or commercial slots in minutes.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Dynamic Availability Control: Set operational hours, blackout dates, and hourly rates.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Real-Time Booking Management: Instant notifications and dashboard booking tracking.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Automated Earnings: Transparent payout tracking with direct bank account settlements.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Safe Verification: Strict vehicle and driver ID visibility prior to physical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04 | 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Core Project Objectives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Engineering goals aimed at solving parking friction through scalable full-stack web software.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9669"/>
                </a:solidFill>
                <a:latin typeface="Calibri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Minimize Search Cruising Time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Deliver sub-second geo-discovery to guide motorists directly to reserved slots, preventing traffic circulation.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9669"/>
                </a:solidFill>
                <a:latin typeface="Calibri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Monetize Underutilized Assets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Transform vacant residential &amp; commercial driveways into high-yield shared urban mobility infrastructure.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9669"/>
                </a:solidFill>
                <a:latin typeface="Calibri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Guaranteed Advance Booking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Enable users to book hours or days in advance with concurrency locks preventing double-booking.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9669"/>
                </a:solidFill>
                <a:latin typeface="Calibri"/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Frictionless Digital Payments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Integrate Razorpay to handle digital transactions, instant receipts, refunds, and host payout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402336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420624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9669"/>
                </a:solidFill>
                <a:latin typeface="Calibri"/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Geospatial Map Exploration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Leverage interactive map interfaces with pins, distance calculation, filtering, and route directions.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402336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420624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9669"/>
                </a:solidFill>
                <a:latin typeface="Calibri"/>
              </a:defRPr>
            </a:pPr>
            <a:r>
              <a:t>06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Enterprise Security &amp; Auth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Implement strict JWT auth, bcrypt password hashing, and role-based access control (Driver vs Host vs Admin).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05 | MARKET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Target User Personas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Designed for diverse urban stakeholders to build a balanced two-sided marketplace.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COMMUTERS &amp; DRIVERS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Daily Urban Motorists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Calibri"/>
              </a:defRPr>
            </a:pPr>
            <a:r>
              <a:t>Needs: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Quick slot discovery near offices, malls, or event hubs; pre-booking assurance; digital payments.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Calibri"/>
              </a:defRPr>
            </a:pPr>
            <a:r>
              <a:t>Pain Points: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Circling blocks, parking meters out of service, risk of towing or vehicle scratches.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Calibri"/>
              </a:defRPr>
            </a:pPr>
            <a:r>
              <a:t>Platform Value: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Certainty before departure, cashless checkout, turn-by-turn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RESIDENTIAL HOSTS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Individual Property Owners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Calibri"/>
              </a:defRPr>
            </a:pPr>
            <a:r>
              <a:t>Needs: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Monetizing empty driveways or society parking bays during working hours.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Calibri"/>
              </a:defRPr>
            </a:pPr>
            <a:r>
              <a:t>Pain Points: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Space sits idle while maintaining property; skepticism about driver security.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Calibri"/>
              </a:defRPr>
            </a:pPr>
            <a:r>
              <a:t>Platform Value: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Passive monthly income, complete calendar control, verified driver check-ins.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COMMERCIAL LOTS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Shops &amp; Office Complexes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Calibri"/>
              </a:defRPr>
            </a:pPr>
            <a:r>
              <a:t>Needs: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Optimizing occupancy during off-peak hours and weekend lulls.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Calibri"/>
              </a:defRPr>
            </a:pPr>
            <a:r>
              <a:t>Pain Points: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Manual paper slips, cash leakages, zero digital visibility to passing drivers.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Calibri"/>
              </a:defRPr>
            </a:pPr>
            <a:r>
              <a:t>Platform Value: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Automated digital ledger, revenue analytics, dynamic slot availability.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PLATFORM ADMIN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Operations &amp; Governance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Calibri"/>
              </a:defRPr>
            </a:pPr>
            <a:r>
              <a:t>Needs: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Ecosystem safety, fraud prevention, compliance, platform dispute resolution.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Calibri"/>
              </a:defRPr>
            </a:pPr>
            <a:r>
              <a:t>Pain Points: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Fraudulent slot listings, pricing disputes, system uptime monitoring.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Calibri"/>
              </a:defRPr>
            </a:pPr>
            <a:r>
              <a:t>Platform Value: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Centralized admin dashboard, KYC validation, automated commission splits.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06 | OPERATIONAL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Simple 3-Step Parking Experience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End-to-end simplicity engineered for both drivers and property hosts.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THE DRIVER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329184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1: DISCOVER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Search Nearby Slots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Enter destination or use live geolocation. View interactive map pins, pricing, and amenities.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57400"/>
            <a:ext cx="329184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2: RESERVE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Book &amp; Pay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Select date, start/end time. Instant slot lock and secure checkout via Razorpay gateway.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57400"/>
            <a:ext cx="329184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194560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3: PARK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Navigate &amp; Check-In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Receive turn-by-turn routing to the exact spot. Show QR code / OTP to host, park stress-free.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107259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Calibri"/>
              </a:defRPr>
            </a:pPr>
            <a:r>
              <a:t>THE SPACE OWNER (HOST) EXPERIENCE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17720"/>
            <a:ext cx="24688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27448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t>1. LIST SPACE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Specify Details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Upload spot photos, address, vehicle size compatibility (Hatchback/SUV/Bike), and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4617720"/>
            <a:ext cx="24688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727448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t>2. SET TIMINGS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Define Availability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Configure working hours, days of the week, and custom hourly or daily rates in real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617720"/>
            <a:ext cx="24688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727448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t>3. ACCEPT BOOKINGS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Automated Matching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Platform handles slot concurrency, notifications, and instant reservation confirmation.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4617720"/>
            <a:ext cx="24688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4727448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t>4. RECEIVE EARNINGS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Automated Payouts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Monitor verified check-ins and collect earnings directly transferred to registered bank account.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07 | PRODUCT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Comprehensive Core Features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Modular feature matrix supporting drivers, space hosts, and platform administrators.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DRIVER MODULE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Geolocation Discovery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Real-time GPS coordinate detection and radius-based parking lookup.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Map Visualizer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Dynamic map markers color-coded by spot availability and rate.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Slot Reservation Engine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Hourly slot booking with time validation and availability lock.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Integrated Checkout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Razorpay checkout modal supporting UPI, Cards, NetBanking.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Active Pass &amp; History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Digital parking ticket with QR code, booking ID, and navigation.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Filter &amp; Amenities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Filter by EV charging, covered roof, 24/7 security, and vehicle size.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Calibri"/>
              </a:defRPr>
            </a:pPr>
            <a:r>
              <a:t>OWNER / HOST MODULE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Multi-Spot Listing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Create single or multiple bays with detailed physical guidelines.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Dynamic Availability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Schedule recurring active windows or pause listing instantly.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Transparent Pricing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Set custom hourly baseline rates and surge pricing flags.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Live Booking Ledger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View upcoming, active, and past reservations in real-time.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Revenue Dashboard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Track daily/monthly earnings, commission deductions, and net payouts.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Access Verification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Validate inbound driver tickets via booking code or QR scanner.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Calibri"/>
              </a:defRPr>
            </a:pPr>
            <a:r>
              <a:t>ADMIN &amp; GOVERNANCE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Listing Verification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Review submitted spaces and ownership records before going public.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User Management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Monitor user accounts, roles, access states, and trust scores.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Transaction Audits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Complete ledger of payments, platform fees, and refund statuses.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Platform Telemetry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Monitor active bookings, system metrics, and service availability.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Dispute Resolution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Handle cancellations, overstay penalty flags, and user support.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Role-Based RBAC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Enforce strict endpoint security based on authenticated JWT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08 | ENGINEERING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System Architecture &amp; Data Flow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Modern decoupled tier architecture built for low latency, reliability, and clear separation of concerns.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55648"/>
            <a:ext cx="10268712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CLIENT PRESENTATION LAYER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React.js SPA (Vite / React Router)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Responsive Web UI  |  Map Geolocation View  |  Search &amp; Filter Filters  |  Booking &amp; Checkout Modal  |  Host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72591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44368"/>
            <a:ext cx="10268712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t>API GATEWAY &amp; ROUTING LAYER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Express.js REST API &amp; Middleware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JWT Verification Filter  |  CORS &amp; Helmet Security  |  Rate Limiting  |  Request Body Validation  |  Error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2591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33088"/>
            <a:ext cx="10268712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APPLICATION BUSINESS LOGIC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Node.js Core Micro-Services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Auth Service (bcrypt/JWT)  |  Parking Search &amp; Geo-Filter  |  Booking Lock Manager  |  Payment Webhook Worker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72591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212080"/>
            <a:ext cx="109728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21808"/>
            <a:ext cx="10268712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Calibri"/>
              </a:defRPr>
            </a:pPr>
            <a:r>
              <a:t>DATA PERSISTENCE &amp; CLOUD SERVICES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Neon PostgreSQL &amp; External APIs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Neon Serverless PostgreSQL (ACID Tables)  |  Razorpay Payment Engine  |  Map Coordinates &amp; Geocoding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09 |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Technology Stack &amp; Engineering Justification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Every technology is deliberately chosen for performance, relational integrity, and developer velocity.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FRONTEND TIER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React.js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Component reusability, virtual DOM for dynamic map rendering, and smooth state updates.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Tailwind CSS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Utility-first responsive styling ensuring fast mobile-first UI delivery without CSS bloat.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React Router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Client-side routing enabling SPA navigation across search, booking, and dashboard screens.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Calibri"/>
              </a:defRPr>
            </a:pPr>
            <a:r>
              <a:t>BACKEND TIER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Node.js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Asynchronous non-blocking I/O event loop ideal for concurrent booking and API transactions.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Express.js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Minimalist, robust REST API routing, custom middleware pipelines, and error handling.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JWT Authentication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Stateless token-based authorization passing user roles securely across requests.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DATABASE &amp; SERVICES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Neon PostgreSQL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Serverless PostgreSQL with instant autoscaling, ACID guarantees, and geospatial querying.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Razorpay Gateway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Standard Indian payment infrastructure handling UPI, cards, and secure webhook verification.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Maps API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Interactive mapping, geocoding coordinates, calculating travel distances and route pins.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Calibri"/>
              </a:defRPr>
            </a:pPr>
            <a:r>
              <a:t>DEVOPS &amp; TOOLS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Vercel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Edge network hosting for high-speed frontend delivery, instant preview builds, and SSL.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Render / Railway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Containerized backend deployment with automatic CI/CD deployment from GitHub.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Postman &amp; Git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API endpoint testing, contract validation, and disciplined Git feature branching.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10 | DATA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Database Design (PostgreSQL / Neon)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Relational schema enforcing referential integrity, booking concurrency safety, and transaction audit trails.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TABLE: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id: UUID / SERIAL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PK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name: VARCHAR(100)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NOT NULL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email: VARCHAR(255)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UNIQUE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password_hash: VARCHAR(255)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BCRYPT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phone: VARCHAR(20)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OPTIONAL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role: ENUM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'driver', 'owner', 'admin'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created_at: TIMESTAMP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DEFAULT NOW()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645920"/>
            <a:ext cx="25603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71907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TABLE: parking_spaces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2402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id: UUID / SERIAL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PK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owner_id: INTEGER / UUID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FK -&gt; users(id)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title: VARCHAR(150)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NOT NULL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address: TEXT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Location Address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latitude: DECIMAL(10,8)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Geo Coordinate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longitude: DECIMAL(11,8)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Geo Coordinate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price_per_hour: DECIMAL(8,2)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Base rate (INR)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is_active: BOOLEAN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Availability Flag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645920"/>
            <a:ext cx="25603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71907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TABLE: bookings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2402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id: UUID / SERIAL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PK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user_id: INTEGER / UUID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FK -&gt; users(id)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space_id: INTEGER / UUID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FK -&gt; parking_spaces(id)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start_time: TIMESTAMP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Start window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end_time: TIMESTAMP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End window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total_amount: DECIMAL(8,2)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Calculated Cost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status: ENUM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'pending', 'confirmed', 'completed', 'cancelled'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created_at: TIMESTAMP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DEFAULT NOW()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1645920"/>
            <a:ext cx="25603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1907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TABLE: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2402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id: UUID / SERIAL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PK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booking_id: INTEGER / UUID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FK -&gt; bookings(id)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razorpay_order_id: VARCHAR(100)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Gateway Order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razorpay_payment_id: VARCHAR(100)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Payment ID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amount: DECIMAL(8,2)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Total Amount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status: VARCHAR(50)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'success', 'failed'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  <a:latin typeface="Calibri"/>
              </a:defRPr>
            </a:pPr>
            <a:r>
              <a:t>created_at: TIMESTAMP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└ DEFAULT NOW()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11 | END-TO-END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Application Execution Flow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Linear operational pathway from initial motorist onboarding to verified check-out.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01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Registration / Login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JWT token issued; user selects driver or host role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2880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02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Geo Location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Browser HTML5 Geolocation detects user coordinates.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82880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03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Map Search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Backend filters spots in Neon within designated radius.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82880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04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View Space Details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User inspects amenities, hourly rate, photos, and ratings.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STEP 05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Select Slot &amp; Time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Select booking window; slot temporary lock applied.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402336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420624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STEP 06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Razorpay Checkout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Order generated; user pays via UPI/Cards/NetBanking.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402336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420624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STEP 07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Order Confirmed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Booking recorded in PostgreSQL; QR parking pass created.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402336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420624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STEP 08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Navigation &amp; Check-In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Driver routed to spot; QR scanned by owner upon arrival.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12 | FRONTEND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Application User Interface Design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Production React.js views engineered with Tailwind CSS for mobile and desktop screens.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1. Discovery &amp; Map View</a:t>
            </a:r>
          </a:p>
          <a:p>
            <a:pPr>
              <a:spcBef>
                <a:spcPts val="200"/>
              </a:spcBef>
              <a:defRPr sz="1050">
                <a:solidFill>
                  <a:srgbClr val="059669"/>
                </a:solidFill>
                <a:latin typeface="Calibri"/>
              </a:defRPr>
            </a:pPr>
            <a:r>
              <a:t>Map Pins &amp; Live Rates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06040"/>
            <a:ext cx="2286000" cy="3566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Interactive Map Interface ]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Location Search Bar (Places Autocomplete)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Color-coded Map Pins (Green = Available)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Bottom Card: 'Koramangala 4th Block - ₹60/hr'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Distance: 350m | 4 Available Spots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828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2. Parking Spot Details</a:t>
            </a:r>
          </a:p>
          <a:p>
            <a:pPr>
              <a:spcBef>
                <a:spcPts val="200"/>
              </a:spcBef>
              <a:defRPr sz="1050">
                <a:solidFill>
                  <a:srgbClr val="059669"/>
                </a:solidFill>
                <a:latin typeface="Calibri"/>
              </a:defRPr>
            </a:pPr>
            <a:r>
              <a:t>Amenities &amp; Guidelines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592" y="2606040"/>
            <a:ext cx="2286000" cy="3566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69748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Spot Specification Modal ]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High-resolution Driveway Photo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Host: Verified Resident Host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Features: CCTV Monitored | Covered | 24/7 Gate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Booking Selector: 02:00 PM - 05:00 PM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Action: 'Proceed to Reserve'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828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3. Razorpay Checkout</a:t>
            </a:r>
          </a:p>
          <a:p>
            <a:pPr>
              <a:spcBef>
                <a:spcPts val="200"/>
              </a:spcBef>
              <a:defRPr sz="1050">
                <a:solidFill>
                  <a:srgbClr val="059669"/>
                </a:solidFill>
                <a:latin typeface="Calibri"/>
              </a:defRPr>
            </a:pPr>
            <a:r>
              <a:t>Instant Payment 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2606040"/>
            <a:ext cx="2286000" cy="3566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69748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Secure Checkout Modal ]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Parking Fee: ₹180 (3 hrs @ ₹60)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Platform Convenience Fee: ₹15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Total Payable: ₹195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Payment Modes: UPI (GPay/PhonePe), Card, NetBanking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Status: Instant Verification Callback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1828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4. Owner Dashboard</a:t>
            </a:r>
          </a:p>
          <a:p>
            <a:pPr>
              <a:spcBef>
                <a:spcPts val="200"/>
              </a:spcBef>
              <a:defRPr sz="1050">
                <a:solidFill>
                  <a:srgbClr val="059669"/>
                </a:solidFill>
                <a:latin typeface="Calibri"/>
              </a:defRPr>
            </a:pPr>
            <a:r>
              <a:t>Listings &amp; Revenue Tracker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3416" y="2606040"/>
            <a:ext cx="2286000" cy="3566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269748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Host Management Portal ]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Total Revenue This Month: ₹8,420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Active Bookings: 2 Currently Parked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Quick Toggle: 'Driveway Slot 1: Active'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Booking Ledger &amp; Bank Settlement Details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13 | ENTREPRENEURIAL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Platform Business Model &amp; Economics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Sustainable monetization model aligning incentives across hosts, drivers, and platform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CORE COMMISSION SPLIT MODEL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Illustrative Unit Transaction Breakdown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When a driver books a residential parking bay for 2 hours at ₹60 total:</a:t>
            </a:r>
          </a:p>
          <a:p>
            <a:pPr>
              <a:spcBef>
                <a:spcPts val="12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Total Paid by Driver: ₹60.00 (100%)</a:t>
            </a:r>
          </a:p>
          <a:p>
            <a:pPr>
              <a:spcBef>
                <a:spcPts val="600"/>
              </a:spcBef>
              <a:defRPr sz="1300">
                <a:solidFill>
                  <a:srgbClr val="059669"/>
                </a:solidFill>
                <a:latin typeface="Calibri"/>
              </a:defRPr>
            </a:pPr>
            <a:r>
              <a:t>• 80% Host Share (₹48.00): Credited automatically to space owner.</a:t>
            </a:r>
          </a:p>
          <a:p>
            <a:pPr>
              <a:spcBef>
                <a:spcPts val="600"/>
              </a:spcBef>
              <a:defRPr sz="1300">
                <a:solidFill>
                  <a:srgbClr val="2563EB"/>
                </a:solidFill>
                <a:latin typeface="Calibri"/>
              </a:defRPr>
            </a:pPr>
            <a:r>
              <a:t>• 20% Curbly Platform Fee (₹12.00): Retained for cloud, payments &amp; operations.</a:t>
            </a:r>
          </a:p>
          <a:p>
            <a:pPr>
              <a:spcBef>
                <a:spcPts val="1400"/>
              </a:spcBef>
              <a:defRPr sz="1200" i="1">
                <a:solidFill>
                  <a:srgbClr val="64748B"/>
                </a:solidFill>
                <a:latin typeface="Calibri"/>
              </a:defRPr>
            </a:pPr>
            <a:r>
              <a:t>Zero upfront setup cost for hosts, creating zero resistance to space onboarding.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Calibri"/>
              </a:defRPr>
            </a:pPr>
            <a:r>
              <a:t>DIVERSIFIED REVENUE CHANNELS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Future &amp; Scaled Revenue Streams (Roadmap)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Premium Search Placement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Commercial hosts pay sponsored listing fees to rank at the top of local search radii.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Monthly Recurring Subscriptions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Daily corporate commuters reserve permanent monthly parking stalls for predictable income.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Surge &amp; Peak Algorithm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Automated demand multipliers during high-traffic concert, sports, or festival events.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Local Retail Merchant Alliances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Nearby cafes &amp; retail stores sponsor driver parking discounts in exchange for foot traffic validation.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14 | STRATEGIC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Why Curbly? Triple-Bottom-Line Value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Tangible benefits delivered simultaneously to commuters, property owners, and urban municipal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FOR DRIVERS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Guaranteed Parking Spot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Eliminates anxiety; your slot is reserved and waiting upon arrival.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Save 20+ Mins per Trip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Direct navigation to the pin avoids frustrating cruising around busy blocks.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Transparent Pricing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Clear hourly rates upfront; zero meter surprise or towing penalty risks.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Cashless Simplicity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Fast UPI / card payment with instant digital receipts on your smartphone.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8745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Calibri"/>
              </a:defRPr>
            </a:pPr>
            <a:r>
              <a:t>FOR SPACE OWNERS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Monetize Dead Capacity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Turn an empty residential or office parking spot into predictable recurring revenue.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Flexible Schedule Control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Make the spot available only when you are at work; block out personal hours.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Vetted, Secure Drivers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Every driver is registered with phone/email verification and booking tracking.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Hands-Free Administration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Automated payments, digital invoices, and occupancy tracking handled by Curbly.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8745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Calibri"/>
              </a:defRPr>
            </a:pPr>
            <a:r>
              <a:t>FOR CITIES &amp; ENVIRONMENT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Curb Congestion Cruising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Reduces the 30% of downtown traffic consisting solely of vehicles seeking spots.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Lower Carbon Footprint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Less fuel burned while idling in traffic directly reduces urban CO2 emissions.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Optimized Land Utilization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Unlocks private parking infrastructure without building expensive concrete multi-decks.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Data-Driven Mobility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Generates valuable spatial data on real-time parking supply and demand dynamics.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15 |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Security &amp; System Reliability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Rigorous separation of implemented software protections versus upcoming enterprise roadmap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Calibri"/>
              </a:defRPr>
            </a:pPr>
            <a:r>
              <a:t>CURRENTLY IMPLEMENTED CONTROLS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Production Code Safeguards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✔ Bcrypt Password Hashing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Zero plain-text password storage; 10 salt rounds used for strong cryptographic salting.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✔ JWT Stateless Tokens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Signed JSON Web Tokens verifying client identity and passing role claims per request.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✔ Role-Based Access Control (RBAC)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Strict Express middleware ensuring drivers cannot alter host slots or access admin APIs.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✔ Payment Signature Verification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HMAC-SHA256 signature calculation validating Razorpay webhook callbacks before booking confirmation.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✔ Environment Variable Isolation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All database URIs, API keys, and JWT secrets stored exclusively in dotenv/cloud envs.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✔ Relational Foreign Key Constraints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Neon PostgreSQL prevents orphan booking records and ensures referential integrity.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PLANNED SECURITY ENHANCEMENTS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Future Hardening (Roadmap)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⏱ Two-Factor Authentication (2FA)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SMS/TOTP multi-factor verification for space owners withdrawing platform balances.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⏱ Automated Host KYC Verification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Government ID &amp; property document OCR verification for commercial operators.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⏱ Distributed Rate Limiting (Redis)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IP-based API rate limiting using Redis to prevent automated bot scraping of parking slots.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⏱ Row-Level Security (RLS)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Enabling PostgreSQL RLS policies in Neon for fine-grained multi-tenant data access.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⏱ Encrypted Overstay Penalties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Automated escrow lock for vehicles exceeding allotted booking duration.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16 | VERIFICATION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Testing &amp; Quality Assurance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Methodical testing across API contracts, authentication boundaries, and booking state transitions.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59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2560320"/>
                <a:gridCol w="2377440"/>
                <a:gridCol w="1216152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/ TRIGGER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OUTPUT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Auth &amp; Security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User Registration &amp; Duplication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POST /api/auth/register with existing email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HTTP 409 Conflict; clear error message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Auth &amp;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JWT Protected Route Without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GET /api/bookings without Authorization 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HTTP 401 Unauthorized; request 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Space Search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Geo Radius Parking Discovery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GET /api/parking/search?lat=12.93&amp;lng=77.62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Returns parking array within 5km radius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Booking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Slot Double-Booking Conflict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Concurrent bookings for same spot &amp; time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First succeeds; second returns HTTP 409 Slot Taken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Payments 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Razorpay Webhook Signature Verify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Webhook callback with invalid secret hash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HTTP 400 Bad Request; booking not confirmed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UI &amp;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Form Validation &amp; Time Boundaries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End time set before start time in booking picker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Frontend disables submit; alerts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17 | ENGINEERING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Development Workflow &amp; Version Control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Iterative software engineering lifecycle enforcing version control, code modularity, and continuous testing.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1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1. REQUIREMENTS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Problem definition, user journeys, stakeholder scoping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2880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2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2. SYSTEM DESIGN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Relational schema design, API contract specifications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82880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3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3. BACKEND API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Node.js/Express REST endpoints, JWT middleware, Neon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82880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4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4. FRONTEND UI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React components, Tailwind layouts, map interactive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PHASE 5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5. INTEGRATION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Connecting Razorpay checkout and geolocation APIs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402336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420624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PHASE 6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6. QA &amp; TESTING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Unit tests, Postman collection validation, boundary testing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402336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420624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PHASE 7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7. GIT &amp; GITHUB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Feature branches, code reviews, semantic commit 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402336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420624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PHASE 8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8. CI/CD DEPLOY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Automated deployment pipeline on Vercel and Render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18 | PRODUCTION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Deployment Architecture &amp; Cloud Hosting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Scalable cloud deployment leveraging globally distributed CDNs, serverless SQL, and containerized microservices.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CLIENT HOSTING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Vercel Edge Network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Hosts the React.js production bundle. Features automatic SSL, global CDN caching for instant asset delivery, and continuous deployment from GitHub main branch.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BACKEND SERVICES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Render / Railway Cloud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Hosts the containerized Node.js &amp; Express.js REST application with automated process restarts, environment secret variables, and health check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DATABASE CLOUD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Neon Serverless PostgreSQL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Provides scalable serverless PostgreSQL with automated storage scaling, zero cold-start friction, automated daily backups, and reliable connection pooling.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EXTERNAL INTEGRATIONS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Cloud Services &amp; APIs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Razorpay Payment Gateway API for transactional processing and webhooks; Geolocation &amp; Maps APIs for address lookup and dynamic distance calculations.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19 | EVOLUTION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Future Project Roadmap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Structured expansion timeline distinguishing current MVP features from upcoming IoT &amp; smart city integrations.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PHASE 1 (CURRENT)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Core Web Application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Driver discovery &amp; interactive map search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Spot reservation &amp; booking engine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Razorpay checkout &amp; digital receipts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Space owner listing &amp; availability toggles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Neon PostgreSQL relational 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2 (SHORT TERM)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Advanced Host Tools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Host analytics portal (occupancy &amp; yields)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In-app driver-host messaging channel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Multi-vehicle profiles for drivers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Automated push notifications &amp; SMS alerts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Comprehensive user review &amp; rating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3 (MEDIUM TERM)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Commercial Expansion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Corporate bulk parking booking contracts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Commercial mall &amp; hospital integration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Automated monthly subscription passes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Dynamic surge pricing based on local demand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Multi-city localized payment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4 (LONG TERM)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Smart IoT &amp; EV Integration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Automated Number Plate Recognition (ANPR)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Ultrasonic IoT spot sensors for live status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Automated boom barrier gate integration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EV charging reservation &amp; billing sync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Municipal smart-city open data exchange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20 | SOCIETAL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Business &amp; Social Impact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Creating multi-dimensional benefits across economic opportunity, motorist convenience, and urban sustainability.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ECONOMIC IMPACT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Monetization of Idle Private Assets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• Unlocks supplemental passive income for urban households and societies.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• Provides commercial property managers with off-peak revenue streams.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• Creates an asset-light, capital-efficient digital mobility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COMMUTER IMPACT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Frictionless Urban Commuting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• Eliminates parking arrival anxiety and ensures spots are held in advance.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• Saves valuable daily time otherwise spent idling in congested parking lines.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• Transparent pricing eliminates meter fraud and informal parking gouging.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MUNICIPAL IMPACT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Optimized Urban Land Utilization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• Unlocks thousands of existing private parking spaces without municipal capital expenditure.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• Mitigates illegal curbside parking that narrows critical arterial traffic lanes.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• Yields digital spatial data to help urban planners understand parking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8745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ENVIRONMENTAL IMPACT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Reduction in Congestion Emissions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• Directly reduces unnecessary vehicle cruising miles prior to parking.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• Lowers localized vehicular greenhouse gas emissions and particulate matter.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• Promotes organized parking infrastructure to ease transition toward urban EV adoption.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21 | 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Current System Limitations &amp; Challenges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Honest academic evaluation of current operational boundaries and external dependencies.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INVENTORY COLD-START PROBLEM  —  Initial Marketplace Density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A two-sided marketplace requires simultaneous density of drivers and hosts. In early pilot zones, sparse parking supply may lead to search misses in peripheral suburban neighborhoods.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33472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HUMAN HOST RELIABILITY  —  Manual Availability Dependency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Without automated IoT hardware gates installed, spot availability currently relies on host scheduling accuracy. If a host parks their own car without toggling the app, conflicts can arise.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47872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GEOGRAPHIC BOUNDARIES  —  Zone-Specific Pilot Focus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The current application is optimized for select dense urban commercial corridors (e.g. Bangalore/Mumbai hubs) rather than comprehensive nationwide arterial coverage.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462272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THIRD-PARTY API UPTIME  —  Service Dependency Boundaries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Core functions rely on external SLA availability — specifically Razorpay webhook confirmation speeds and Map Geocoding API rate quotas during sudden search spikes.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76672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PHYSICAL ACCESS &amp; SECURITY  —  Residential Gated Society Rules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Certain high-security apartment complexes possess strict resident welfare association (RWA) gate rules that require physical guard clearance before external cars enter.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alibri"/>
              </a:defRPr>
            </a:pPr>
            <a:r>
              <a:t>PROJECT SUMMARY &amp; CONCLUSION</a:t>
            </a:r>
          </a:p>
          <a:p>
            <a:pPr>
              <a:spcBef>
                <a:spcPts val="6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From Parking Search to Parking Certainty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  <a:latin typeface="Calibri"/>
              </a:defRPr>
            </a:pPr>
            <a:r>
              <a:t>Curbly solves a fundamental urban friction point by transforming dormant, underutilized private spaces into an organized, digitally searchable, and reservable parking network.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96596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06908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alibri"/>
              </a:defRPr>
            </a:pPr>
            <a:r>
              <a:t>GEOLOCATION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Sub-second map lookup &amp; proximity filtering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3931920"/>
            <a:ext cx="196596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406908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alibri"/>
              </a:defRPr>
            </a:pPr>
            <a:r>
              <a:t>DISCOVERY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Real-time visibility into verified parking slots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31920"/>
            <a:ext cx="196596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406908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alibri"/>
              </a:defRPr>
            </a:pPr>
            <a:r>
              <a:t>RESERVATION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Instant locking without double-booking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59" y="3931920"/>
            <a:ext cx="196596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19" y="406908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alibri"/>
              </a:defRPr>
            </a:pPr>
            <a:r>
              <a:t>PAYMENT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Integrated Razorpay checkout &amp; automated splits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3931920"/>
            <a:ext cx="196596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406908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alibri"/>
              </a:defRPr>
            </a:pPr>
            <a:r>
              <a:t>MANAGEMENT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Host availability scheduling &amp; revenue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i="1">
                <a:solidFill>
                  <a:srgbClr val="38BDF8"/>
                </a:solidFill>
                <a:latin typeface="Calibri"/>
              </a:defRPr>
            </a:pPr>
            <a:r>
              <a:t>“Find parking before you arrive — Curbly delivers peace of mind to modern city commuters.”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23 | SYSTEM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Live Project Demonstration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Step-by-step walkthrough of the deployed full-stack software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309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LIVE DEMO EXECUTION RUNBOOK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Guided End-to-End Workflow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1. Authentication: Sign in as Driver or Host using JWT-secured authentication.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2. Map Discovery: View interactive React map with live markers fetched from Neon database.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3. Spot Inspection: Select a driveway slot; review rate per hour (₹60), photos, and amenities.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4. Slot Reservation: Choose a 2-hour parking window; initiate instant concurrency lock.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5. Razorpay Checkout: Trigger payment gateway modal in test mode; verify signature callback.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6. Digital Parking Pass: Inspect generated digital parking pass with booking reference &amp; directions.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7. Owner Dashboard: Switch to Host portal to verify incoming booking &amp; updated revenue ledger.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5935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82880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Calibri"/>
              </a:defRPr>
            </a:pPr>
            <a:r>
              <a:t>ACCESS &amp; REPOSITORY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Source &amp; Deployment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GitHub Repository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Full source code, API schemas &amp; documentation:</a:t>
            </a:r>
            <a:br/>
            <a:r>
              <a:t>https://github.com/[team]/curbly-platform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Live Frontend Web App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Deployed on Vercel Edge:</a:t>
            </a:r>
            <a:br/>
            <a:r>
              <a:t>https://curbly-parking.vercel.app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Backend API Endpoint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Live Express service on Render/Railway:</a:t>
            </a:r>
            <a:br/>
            <a:r>
              <a:t>https://api-curbly.onrender.com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Database Engine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Neon Serverless PostgreSQL</a:t>
            </a:r>
            <a:br/>
            <a:r>
              <a:t>ACID compliant relational cluster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24 | PROJECT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Team Contributions &amp; Task Matrix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Clear distribution of technical roles across full-stack architecture, testing, and deployment.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59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5239512"/>
              </a:tblGrid>
              <a:tr h="8961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TEAM MEMBER &amp;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RESPONSIBILITY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 DELIVERABLES &amp; MODULES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Team Member 1</a:t>
                      </a:r>
                      <a:br/>
                      <a:r>
                        <a:t>Frontend &amp; UI/UX Lead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React Architecture &amp; UI Engineering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• Developed responsive React.js SPA with Tailwind CSS styling.</a:t>
                      </a:r>
                      <a:br/>
                      <a:r>
                        <a:t>• Integrated interactive map visualizer and dynamic radius filters.</a:t>
                      </a:r>
                      <a:br/>
                      <a:r>
                        <a:t>• Built driver discovery views, booking modals, and QR pass components.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Team Member 2</a:t>
                      </a:r>
                      <a:br/>
                      <a:r>
                        <a:t>Backend &amp; API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Node.js REST Services &amp; Payment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• Engineered Express.js REST API endpoints and error middleware.</a:t>
                      </a:r>
                      <a:br/>
                      <a:r>
                        <a:t>• Implemented JWT authentication, bcrypt hashing, and RBAC authorization.</a:t>
                      </a:r>
                      <a:br/>
                      <a:r>
                        <a:t>• Integrated Razorpay payment checkout flow and webhook verification.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Team Member 3</a:t>
                      </a:r>
                      <a:br/>
                      <a:r>
                        <a:t>Database &amp; DevOps Lead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Neon Database Architecture &amp; Deployment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• Designed relational PostgreSQL schema with referential constraints.</a:t>
                      </a:r>
                      <a:br/>
                      <a:r>
                        <a:t>• Configured Neon cloud cluster, connection pooling, and indexing.</a:t>
                      </a:r>
                      <a:br/>
                      <a:r>
                        <a:t>• Set up Vercel and Render/Railway CI/CD pipelines and environment secrets.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Team Member 4</a:t>
                      </a:r>
                      <a:br/>
                      <a:r>
                        <a:t>QA &amp; Documentation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Testing, Validation &amp;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• Authored comprehensive Postman API test collections and boundary cases.</a:t>
                      </a:r>
                      <a:br/>
                      <a:r>
                        <a:t>• Conducted integration testing for payment webhooks and double-booking locks.</a:t>
                      </a:r>
                      <a:br/>
                      <a:r>
                        <a:t>• Authored system documentation, architecture diagrams, and ENTP project report.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Calibri"/>
              </a:defRPr>
            </a:pPr>
            <a:r>
              <a:t>CURBLY</a:t>
            </a:r>
          </a:p>
          <a:p>
            <a:pPr>
              <a:spcBef>
                <a:spcPts val="600"/>
              </a:spcBef>
              <a:defRPr sz="2400" b="1">
                <a:solidFill>
                  <a:srgbClr val="10B981"/>
                </a:solidFill>
                <a:latin typeface="Calibri"/>
              </a:defRPr>
            </a:pPr>
            <a:r>
              <a:t>Smart Parking. Easy Living.</a:t>
            </a:r>
          </a:p>
          <a:p>
            <a:pPr>
              <a:spcBef>
                <a:spcPts val="18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  <a:latin typeface="Calibri"/>
              </a:defRPr>
            </a:pPr>
            <a:r>
              <a:t>Questions &amp; Technical Discussion</a:t>
            </a:r>
          </a:p>
          <a:p>
            <a:pPr>
              <a:spcBef>
                <a:spcPts val="16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Department of Computer Engineering  |  Academic Year 2025–2026</a:t>
            </a:r>
            <a:br/>
            <a:r>
              <a:t>Project Team &amp; Faculty Mentors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